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2800" b="1">
                <a:solidFill>
                  <a:srgbClr val="2563EB"/>
                </a:solidFill>
              </a:defRPr>
            </a:pPr>
            <a:r>
              <a:t>Mitigation of Bias and Improve Fairness in Machine Learning using LLMs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1600">
                <a:solidFill>
                  <a:srgbClr val="1E293B"/>
                </a:solidFill>
              </a:defRPr>
            </a:pPr>
            <a:r>
              <a:t>Towards Ethical, Accountable, and Transparent AI Systems</a:t>
            </a:r>
          </a:p>
          <a:p>
            <a:r>
              <a:t>Final Year Engineering Project Presentation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400" b="1">
                <a:solidFill>
                  <a:srgbClr val="2563EB"/>
                </a:solidFill>
              </a:defRPr>
            </a:pPr>
            <a:r>
              <a:t>1. Introduction &amp; Background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1600">
                <a:solidFill>
                  <a:srgbClr val="1E293B"/>
                </a:solidFill>
              </a:defRPr>
            </a:pPr>
            <a:r>
              <a:t>Rapid adoption of Machine Learning in high-stakes domains (Credit, Hiring, Healthcare, Justice).</a:t>
            </a:r>
          </a:p>
          <a:p>
            <a:pPr>
              <a:defRPr sz="1600">
                <a:solidFill>
                  <a:srgbClr val="1E293B"/>
                </a:solidFill>
              </a:defRPr>
            </a:pPr>
            <a:r>
              <a:t>Historical training data frequently reflects human prejudices and systemic societal disparities.</a:t>
            </a:r>
          </a:p>
          <a:p>
            <a:pPr>
              <a:defRPr sz="1600">
                <a:solidFill>
                  <a:srgbClr val="1E293B"/>
                </a:solidFill>
              </a:defRPr>
            </a:pPr>
            <a:r>
              <a:t>Unchecked ML models perpetuate and amplify discrimination against protected demographic groups.</a:t>
            </a:r>
          </a:p>
          <a:p>
            <a:pPr>
              <a:defRPr sz="1600">
                <a:solidFill>
                  <a:srgbClr val="1E293B"/>
                </a:solidFill>
              </a:defRPr>
            </a:pPr>
            <a:r>
              <a:t>Ethical AI requires proactive bias detection, standard fairness measurement, and automated mitigation.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400" b="1">
                <a:solidFill>
                  <a:srgbClr val="2563EB"/>
                </a:solidFill>
              </a:defRPr>
            </a:pPr>
            <a:r>
              <a:t>2. 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1600">
                <a:solidFill>
                  <a:srgbClr val="1E293B"/>
                </a:solidFill>
              </a:defRPr>
            </a:pPr>
            <a:r>
              <a:t>Standard ML optimization functions maximize accuracy while ignoring fairness metrics.</a:t>
            </a:r>
          </a:p>
          <a:p>
            <a:pPr>
              <a:defRPr sz="1600">
                <a:solidFill>
                  <a:srgbClr val="1E293B"/>
                </a:solidFill>
              </a:defRPr>
            </a:pPr>
            <a:r>
              <a:t>High model accuracy often hides severe demographic disparate impact (e.g. lower loan approval for women).</a:t>
            </a:r>
          </a:p>
          <a:p>
            <a:pPr>
              <a:defRPr sz="1600">
                <a:solidFill>
                  <a:srgbClr val="1E293B"/>
                </a:solidFill>
              </a:defRPr>
            </a:pPr>
            <a:r>
              <a:t>Black-box ML predictions lack plain-English explainability regarding why bias occurs.</a:t>
            </a:r>
          </a:p>
          <a:p>
            <a:pPr>
              <a:defRPr sz="1600">
                <a:solidFill>
                  <a:srgbClr val="1E293B"/>
                </a:solidFill>
              </a:defRPr>
            </a:pPr>
            <a:r>
              <a:t>Need for an end-to-end framework combining rigorous math fairness metrics with LLM explainability.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400" b="1">
                <a:solidFill>
                  <a:srgbClr val="2563EB"/>
                </a:solidFill>
              </a:defRPr>
            </a:pPr>
            <a:r>
              <a:t>3. Project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1600">
                <a:solidFill>
                  <a:srgbClr val="1E293B"/>
                </a:solidFill>
              </a:defRPr>
            </a:pPr>
            <a:r>
              <a:t>Build a full-stack Web Application (Flask, SQLite, Chart.js, Scikit-Learn).</a:t>
            </a:r>
          </a:p>
          <a:p>
            <a:pPr>
              <a:defRPr sz="1600">
                <a:solidFill>
                  <a:srgbClr val="1E293B"/>
                </a:solidFill>
              </a:defRPr>
            </a:pPr>
            <a:r>
              <a:t>Automate CSV dataset upload, sensitive attribute tagging, and ML classification.</a:t>
            </a:r>
          </a:p>
          <a:p>
            <a:pPr>
              <a:defRPr sz="1600">
                <a:solidFill>
                  <a:srgbClr val="1E293B"/>
                </a:solidFill>
              </a:defRPr>
            </a:pPr>
            <a:r>
              <a:t>Quantify bias using standard Ethical AI metrics (Disparate Impact, Demographic Parity, Equalized Odds).</a:t>
            </a:r>
          </a:p>
          <a:p>
            <a:pPr>
              <a:defRPr sz="1600">
                <a:solidFill>
                  <a:srgbClr val="1E293B"/>
                </a:solidFill>
              </a:defRPr>
            </a:pPr>
            <a:r>
              <a:t>Integrate Google Gemini LLM to audit predictions and explain bias in simple English.</a:t>
            </a:r>
          </a:p>
          <a:p>
            <a:pPr>
              <a:defRPr sz="1600">
                <a:solidFill>
                  <a:srgbClr val="1E293B"/>
                </a:solidFill>
              </a:defRPr>
            </a:pPr>
            <a:r>
              <a:t>Implement pre-processing (Reweighing) and post-processing (Threshold Optimization) bias mitigation.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400" b="1">
                <a:solidFill>
                  <a:srgbClr val="2563EB"/>
                </a:solidFill>
              </a:defRPr>
            </a:pPr>
            <a:r>
              <a:t>4. System Architecture &amp; Workflow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1600">
                <a:solidFill>
                  <a:srgbClr val="1E293B"/>
                </a:solidFill>
              </a:defRPr>
            </a:pPr>
            <a:r>
              <a:t>Layer 1: Web Interface &amp; Authentication (Flask, Bootstrap 5, SQLite database).</a:t>
            </a:r>
          </a:p>
          <a:p>
            <a:pPr>
              <a:defRPr sz="1600">
                <a:solidFill>
                  <a:srgbClr val="1E293B"/>
                </a:solidFill>
              </a:defRPr>
            </a:pPr>
            <a:r>
              <a:t>Layer 2: Data Preprocessing Engine (Encoding, Imputation, Train/Test Split).</a:t>
            </a:r>
          </a:p>
          <a:p>
            <a:pPr>
              <a:defRPr sz="1600">
                <a:solidFill>
                  <a:srgbClr val="1E293B"/>
                </a:solidFill>
              </a:defRPr>
            </a:pPr>
            <a:r>
              <a:t>Layer 3: ML Classifier Engine (Logistic Regression, Random Forest, Decision Tree).</a:t>
            </a:r>
          </a:p>
          <a:p>
            <a:pPr>
              <a:defRPr sz="1600">
                <a:solidFill>
                  <a:srgbClr val="1E293B"/>
                </a:solidFill>
              </a:defRPr>
            </a:pPr>
            <a:r>
              <a:t>Layer 4: Bias Detection &amp; Metric Computation Engine.</a:t>
            </a:r>
          </a:p>
          <a:p>
            <a:pPr>
              <a:defRPr sz="1600">
                <a:solidFill>
                  <a:srgbClr val="1E293B"/>
                </a:solidFill>
              </a:defRPr>
            </a:pPr>
            <a:r>
              <a:t>Layer 5: LLM Audit Engine (Gemini REST API / Intelligent Fallback).</a:t>
            </a:r>
          </a:p>
          <a:p>
            <a:pPr>
              <a:defRPr sz="1600">
                <a:solidFill>
                  <a:srgbClr val="1E293B"/>
                </a:solidFill>
              </a:defRPr>
            </a:pPr>
            <a:r>
              <a:t>Layer 6: Mitigation Engine &amp; Report Generator (PDF &amp; PPTX export).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400" b="1">
                <a:solidFill>
                  <a:srgbClr val="2563EB"/>
                </a:solidFill>
              </a:defRPr>
            </a:pPr>
            <a:r>
              <a:t>5. Dataset &amp; Sensitive Attribute Tagging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1600">
                <a:solidFill>
                  <a:srgbClr val="1E293B"/>
                </a:solidFill>
              </a:defRPr>
            </a:pPr>
            <a:r>
              <a:t>Benchmark Dataset: Credit Scoring / Income Classification (1,000 applicant records).</a:t>
            </a:r>
          </a:p>
          <a:p>
            <a:pPr>
              <a:defRPr sz="1600">
                <a:solidFill>
                  <a:srgbClr val="1E293B"/>
                </a:solidFill>
              </a:defRPr>
            </a:pPr>
            <a:r>
              <a:t>Features: Age, Education, Credit Score, Income, Loan Amount, Employment Duration.</a:t>
            </a:r>
          </a:p>
          <a:p>
            <a:pPr>
              <a:defRPr sz="1600">
                <a:solidFill>
                  <a:srgbClr val="1E293B"/>
                </a:solidFill>
              </a:defRPr>
            </a:pPr>
            <a:r>
              <a:t>Protected / Sensitive Attributes: Gender (Male vs. Female), Age, Race.</a:t>
            </a:r>
          </a:p>
          <a:p>
            <a:pPr>
              <a:defRPr sz="1600">
                <a:solidFill>
                  <a:srgbClr val="1E293B"/>
                </a:solidFill>
              </a:defRPr>
            </a:pPr>
            <a:r>
              <a:t>Target Label: Binary Credit Approval outcome (Approved=1, Rejected=0).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400" b="1">
                <a:solidFill>
                  <a:srgbClr val="2563EB"/>
                </a:solidFill>
              </a:defRPr>
            </a:pPr>
            <a:r>
              <a:t>6. Machine Learning Model Training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1600">
                <a:solidFill>
                  <a:srgbClr val="1E293B"/>
                </a:solidFill>
              </a:defRPr>
            </a:pPr>
            <a:r>
              <a:t>Multi-model ensemble evaluation: Logistic Regression, Decision Tree, Random Forest, Gradient Boosting.</a:t>
            </a:r>
          </a:p>
          <a:p>
            <a:pPr>
              <a:defRPr sz="1600">
                <a:solidFill>
                  <a:srgbClr val="1E293B"/>
                </a:solidFill>
              </a:defRPr>
            </a:pPr>
            <a:r>
              <a:t>Preprocessing pipeline: One-hot encoding of categorical variables, median imputation, standard scaling.</a:t>
            </a:r>
          </a:p>
          <a:p>
            <a:pPr>
              <a:defRPr sz="1600">
                <a:solidFill>
                  <a:srgbClr val="1E293B"/>
                </a:solidFill>
              </a:defRPr>
            </a:pPr>
            <a:r>
              <a:t>Baseline performance metrics computed: Accuracy, Precision, Recall, F1-Score, Confusion Matrix.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400" b="1">
                <a:solidFill>
                  <a:srgbClr val="2563EB"/>
                </a:solidFill>
              </a:defRPr>
            </a:pPr>
            <a:r>
              <a:t>7. Ethical AI Fairness Metrics Standard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1600">
                <a:solidFill>
                  <a:srgbClr val="1E293B"/>
                </a:solidFill>
              </a:defRPr>
            </a:pPr>
            <a:r>
              <a:t>Disparate Impact (DI): Ratio of unprivileged to privileged selection rates (Target: DI &gt;= 0.80).</a:t>
            </a:r>
          </a:p>
          <a:p>
            <a:pPr>
              <a:defRPr sz="1600">
                <a:solidFill>
                  <a:srgbClr val="1E293B"/>
                </a:solidFill>
              </a:defRPr>
            </a:pPr>
            <a:r>
              <a:t>Demographic Parity Difference (DPD): Gap in positive decision rates between subgroups (Target: DPD &lt;= 0.10).</a:t>
            </a:r>
          </a:p>
          <a:p>
            <a:pPr>
              <a:defRPr sz="1600">
                <a:solidFill>
                  <a:srgbClr val="1E293B"/>
                </a:solidFill>
              </a:defRPr>
            </a:pPr>
            <a:r>
              <a:t>Equalized Odds Difference (EOD): Average gap in True Positive and False Positive rates.</a:t>
            </a:r>
          </a:p>
          <a:p>
            <a:pPr>
              <a:defRPr sz="1600">
                <a:solidFill>
                  <a:srgbClr val="1E293B"/>
                </a:solidFill>
              </a:defRPr>
            </a:pPr>
            <a:r>
              <a:t>Equal Opportunity Difference: Difference in True Positive Rates (TPR).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400" b="1">
                <a:solidFill>
                  <a:srgbClr val="2563EB"/>
                </a:solidFill>
              </a:defRPr>
            </a:pPr>
            <a:r>
              <a:t>8. Initial Bias Detection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1600">
                <a:solidFill>
                  <a:srgbClr val="1E293B"/>
                </a:solidFill>
              </a:defRPr>
            </a:pPr>
            <a:r>
              <a:t>Unmitigated Random Forest Model Accuracy: 95.6% (Appears highly successful).</a:t>
            </a:r>
          </a:p>
          <a:p>
            <a:pPr>
              <a:defRPr sz="1600">
                <a:solidFill>
                  <a:srgbClr val="1E293B"/>
                </a:solidFill>
              </a:defRPr>
            </a:pPr>
            <a:r>
              <a:t>Disparate Impact Ratio: 0.76 (Violates EEOC 80% Rule - Flagged as BIASED).</a:t>
            </a:r>
          </a:p>
          <a:p>
            <a:pPr>
              <a:defRPr sz="1600">
                <a:solidFill>
                  <a:srgbClr val="1E293B"/>
                </a:solidFill>
              </a:defRPr>
            </a:pPr>
            <a:r>
              <a:t>Male Applicant Approval Rate: ~68.0% | Female Applicant Approval Rate: ~52.0%.</a:t>
            </a:r>
          </a:p>
          <a:p>
            <a:pPr>
              <a:defRPr sz="1600">
                <a:solidFill>
                  <a:srgbClr val="1E293B"/>
                </a:solidFill>
              </a:defRPr>
            </a:pPr>
            <a:r>
              <a:t>Conclusion: Model achieves high predictive accuracy by exploiting historical demographic disparity.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400" b="1">
                <a:solidFill>
                  <a:srgbClr val="2563EB"/>
                </a:solidFill>
              </a:defRPr>
            </a:pPr>
            <a:r>
              <a:t>9. LLM (Gemini) Bias Audit &amp; Explanation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1600">
                <a:solidFill>
                  <a:srgbClr val="1E293B"/>
                </a:solidFill>
              </a:defRPr>
            </a:pPr>
            <a:r>
              <a:t>Translates mathematical metric matrices into intuitive, plain-English executive summaries.</a:t>
            </a:r>
          </a:p>
          <a:p>
            <a:pPr>
              <a:defRPr sz="1600">
                <a:solidFill>
                  <a:srgbClr val="1E293B"/>
                </a:solidFill>
              </a:defRPr>
            </a:pPr>
            <a:r>
              <a:t>Identifies root cause: Historical imbalance + implicit feature proxies in dataset.</a:t>
            </a:r>
          </a:p>
          <a:p>
            <a:pPr>
              <a:defRPr sz="1600">
                <a:solidFill>
                  <a:srgbClr val="1E293B"/>
                </a:solidFill>
              </a:defRPr>
            </a:pPr>
            <a:r>
              <a:t>Provides transparent, actionable governance recommendations for non-technical stakeholders.</a:t>
            </a:r>
          </a:p>
          <a:p>
            <a:pPr>
              <a:defRPr sz="1600">
                <a:solidFill>
                  <a:srgbClr val="1E293B"/>
                </a:solidFill>
              </a:defRPr>
            </a:pPr>
            <a:r>
              <a:t>Ensures audit transparency without exposing raw confidential code or formulas.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400" b="1">
                <a:solidFill>
                  <a:srgbClr val="2563EB"/>
                </a:solidFill>
              </a:defRPr>
            </a:pPr>
            <a:r>
              <a:t>10. Bias Mitigation Methodologies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1600">
                <a:solidFill>
                  <a:srgbClr val="1E293B"/>
                </a:solidFill>
              </a:defRPr>
            </a:pPr>
            <a:r>
              <a:t>Pre-processing (Reweighing Algorithm): Calculates Kamiran &amp; Calders inverse frequency sample weights prior to model training.</a:t>
            </a:r>
          </a:p>
          <a:p>
            <a:pPr>
              <a:defRPr sz="1600">
                <a:solidFill>
                  <a:srgbClr val="1E293B"/>
                </a:solidFill>
              </a:defRPr>
            </a:pPr>
            <a:r>
              <a:t>Post-processing (Group Threshold Optimization): Calibrates decision probability thresholds per group (e.g. Unprivileged=0.38, Privileged=0.50).</a:t>
            </a:r>
          </a:p>
          <a:p>
            <a:pPr>
              <a:defRPr sz="1600">
                <a:solidFill>
                  <a:srgbClr val="1E293B"/>
                </a:solidFill>
              </a:defRPr>
            </a:pPr>
            <a:r>
              <a:t>In-processing: Regularized loss penalty constraints during gradient optimization.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400" b="1">
                <a:solidFill>
                  <a:srgbClr val="2563EB"/>
                </a:solidFill>
              </a:defRPr>
            </a:pPr>
            <a:r>
              <a:t>11. Before vs. After Mitigation 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1600">
                <a:solidFill>
                  <a:srgbClr val="1E293B"/>
                </a:solidFill>
              </a:defRPr>
            </a:pPr>
            <a:r>
              <a:t>Baseline Model: Disparate Impact = 0.76 (Biased) | Accuracy = 95.6%.</a:t>
            </a:r>
          </a:p>
          <a:p>
            <a:pPr>
              <a:defRPr sz="1600">
                <a:solidFill>
                  <a:srgbClr val="1E293B"/>
                </a:solidFill>
              </a:defRPr>
            </a:pPr>
            <a:r>
              <a:t>Mitigated Model (Threshold Optimization): Disparate Impact = 0.91 (FAIR) | Accuracy = 94.8%.</a:t>
            </a:r>
          </a:p>
          <a:p>
            <a:pPr>
              <a:defRPr sz="1600">
                <a:solidFill>
                  <a:srgbClr val="1E293B"/>
                </a:solidFill>
              </a:defRPr>
            </a:pPr>
            <a:r>
              <a:t>Fairness Gain: +19.7% improvement in demographic parity.</a:t>
            </a:r>
          </a:p>
          <a:p>
            <a:pPr>
              <a:defRPr sz="1600">
                <a:solidFill>
                  <a:srgbClr val="1E293B"/>
                </a:solidFill>
              </a:defRPr>
            </a:pPr>
            <a:r>
              <a:t>Accuracy Trade-off: Less than 1% accuracy impact, successfully balancing ethics and performance.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400" b="1">
                <a:solidFill>
                  <a:srgbClr val="2563EB"/>
                </a:solidFill>
              </a:defRPr>
            </a:pPr>
            <a:r>
              <a:t>12. Interactive Web Application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1600">
                <a:solidFill>
                  <a:srgbClr val="1E293B"/>
                </a:solidFill>
              </a:defRPr>
            </a:pPr>
            <a:r>
              <a:t>Executive Visual Dashboard with real-time Chart.js gauge dials.</a:t>
            </a:r>
          </a:p>
          <a:p>
            <a:pPr>
              <a:defRPr sz="1600">
                <a:solidFill>
                  <a:srgbClr val="1E293B"/>
                </a:solidFill>
              </a:defRPr>
            </a:pPr>
            <a:r>
              <a:t>Interactive dataset uploader with automated schema inspection.</a:t>
            </a:r>
          </a:p>
          <a:p>
            <a:pPr>
              <a:defRPr sz="1600">
                <a:solidFill>
                  <a:srgbClr val="1E293B"/>
                </a:solidFill>
              </a:defRPr>
            </a:pPr>
            <a:r>
              <a:t>Side-by-side fairness comparison tables and visual confusion matrix heatmaps.</a:t>
            </a:r>
          </a:p>
          <a:p>
            <a:pPr>
              <a:defRPr sz="1600">
                <a:solidFill>
                  <a:srgbClr val="1E293B"/>
                </a:solidFill>
              </a:defRPr>
            </a:pPr>
            <a:r>
              <a:t>One-click PDF/HTML Report Download and PPT Presentation exporter.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400" b="1">
                <a:solidFill>
                  <a:srgbClr val="2563EB"/>
                </a:solidFill>
              </a:defRPr>
            </a:pPr>
            <a:r>
              <a:t>13. Future Scope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1600">
                <a:solidFill>
                  <a:srgbClr val="1E293B"/>
                </a:solidFill>
              </a:defRPr>
            </a:pPr>
            <a:r>
              <a:t>Intersectionally Fair ML: Extending metrics to multi-attribute protected groups (Gender + Race + Age).</a:t>
            </a:r>
          </a:p>
          <a:p>
            <a:pPr>
              <a:defRPr sz="1600">
                <a:solidFill>
                  <a:srgbClr val="1E293B"/>
                </a:solidFill>
              </a:defRPr>
            </a:pPr>
            <a:r>
              <a:t>Real-time streaming data auditing for dynamic production AI APIs.</a:t>
            </a:r>
          </a:p>
          <a:p>
            <a:pPr>
              <a:defRPr sz="1600">
                <a:solidFill>
                  <a:srgbClr val="1E293B"/>
                </a:solidFill>
              </a:defRPr>
            </a:pPr>
            <a:r>
              <a:t>Integration with deep neural network architectures and Transformer embeddings.</a:t>
            </a:r>
          </a:p>
          <a:p>
            <a:pPr>
              <a:defRPr sz="1600">
                <a:solidFill>
                  <a:srgbClr val="1E293B"/>
                </a:solidFill>
              </a:defRPr>
            </a:pPr>
            <a:r>
              <a:t>Automated model retraining pipelines triggered by continuous fairness drift alerts.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400" b="1">
                <a:solidFill>
                  <a:srgbClr val="2563EB"/>
                </a:solidFill>
              </a:defRPr>
            </a:pPr>
            <a:r>
              <a:t>14. 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1600">
                <a:solidFill>
                  <a:srgbClr val="1E293B"/>
                </a:solidFill>
              </a:defRPr>
            </a:pPr>
            <a:r>
              <a:t>Successfully developed an end-to-end Ethical AI system for bias detection and mitigation.</a:t>
            </a:r>
          </a:p>
          <a:p>
            <a:pPr>
              <a:defRPr sz="1600">
                <a:solidFill>
                  <a:srgbClr val="1E293B"/>
                </a:solidFill>
              </a:defRPr>
            </a:pPr>
            <a:r>
              <a:t>Demonstrated that ML models can be rendered fair without sacrificing operational accuracy.</a:t>
            </a:r>
          </a:p>
          <a:p>
            <a:pPr>
              <a:defRPr sz="1600">
                <a:solidFill>
                  <a:srgbClr val="1E293B"/>
                </a:solidFill>
              </a:defRPr>
            </a:pPr>
            <a:r>
              <a:t>Combined rigorous quantitative fairness metrics with qualitative LLM plain-English explainability.</a:t>
            </a:r>
          </a:p>
          <a:p>
            <a:pPr>
              <a:defRPr sz="1600">
                <a:solidFill>
                  <a:srgbClr val="1E293B"/>
                </a:solidFill>
              </a:defRPr>
            </a:pPr>
            <a:r>
              <a:t>Project is complete, fully functional, and ready for final-year engineering deployment.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